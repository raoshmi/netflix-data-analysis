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221F1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5989</c:v>
                </c:pt>
                <c:pt idx="1">
                  <c:v>2818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F9A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9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737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32F2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71C1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00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2071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Kids &amp; Family</c:v>
                  </c:pt>
                  <c:pt idx="1">
                    <c:v>Crime</c:v>
                  </c:pt>
                  <c:pt idx="2">
                    <c:v>Romance</c:v>
                  </c:pt>
                  <c:pt idx="3">
                    <c:v>Horror</c:v>
                  </c:pt>
                  <c:pt idx="4">
                    <c:v>Action &amp; Adventure</c:v>
                  </c:pt>
                  <c:pt idx="5">
                    <c:v>Thriller</c:v>
                  </c:pt>
                  <c:pt idx="6">
                    <c:v>Documentary</c:v>
                  </c:pt>
                  <c:pt idx="7">
                    <c:v>Intl Movies</c:v>
                  </c:pt>
                  <c:pt idx="8">
                    <c:v>Comedy</c:v>
                  </c:pt>
                  <c:pt idx="9">
                    <c:v>Drama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743</c:v>
                </c:pt>
                <c:pt idx="1">
                  <c:v>856</c:v>
                </c:pt>
                <c:pt idx="2">
                  <c:v>987</c:v>
                </c:pt>
                <c:pt idx="3">
                  <c:v>1102</c:v>
                </c:pt>
                <c:pt idx="4">
                  <c:v>1389</c:v>
                </c:pt>
                <c:pt idx="5">
                  <c:v>1521</c:v>
                </c:pt>
                <c:pt idx="6">
                  <c:v>1743</c:v>
                </c:pt>
                <c:pt idx="7">
                  <c:v>1954</c:v>
                </c:pt>
                <c:pt idx="8">
                  <c:v>2312</c:v>
                </c:pt>
                <c:pt idx="9">
                  <c:v>2847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2071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32F2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5737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F9A9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FCDD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F8A8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United States</c:v>
                  </c:pt>
                  <c:pt idx="1">
                    <c:v>India</c:v>
                  </c:pt>
                  <c:pt idx="2">
                    <c:v>United Kingdom</c:v>
                  </c:pt>
                  <c:pt idx="3">
                    <c:v>Japan</c:v>
                  </c:pt>
                  <c:pt idx="4">
                    <c:v>South Korea</c:v>
                  </c:pt>
                  <c:pt idx="5">
                    <c:v>France</c:v>
                  </c:pt>
                  <c:pt idx="6">
                    <c:v>Spain</c:v>
                  </c:pt>
                  <c:pt idx="7">
                    <c:v>Germany</c:v>
                  </c:pt>
                  <c:pt idx="8">
                    <c:v>Canada</c:v>
                  </c:pt>
                  <c:pt idx="9">
                    <c:v>Brazil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2032</c:v>
                </c:pt>
                <c:pt idx="1">
                  <c:v>1543</c:v>
                </c:pt>
                <c:pt idx="2">
                  <c:v>892</c:v>
                </c:pt>
                <c:pt idx="3">
                  <c:v>643</c:v>
                </c:pt>
                <c:pt idx="4">
                  <c:v>521</c:v>
                </c:pt>
                <c:pt idx="5">
                  <c:v>487</c:v>
                </c:pt>
                <c:pt idx="6">
                  <c:v>412</c:v>
                </c:pt>
                <c:pt idx="7">
                  <c:v>398</c:v>
                </c:pt>
                <c:pt idx="8">
                  <c:v>376</c:v>
                </c:pt>
                <c:pt idx="9">
                  <c:v>342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2071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0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64D4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64D4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TV-MA</c:v>
                  </c:pt>
                  <c:pt idx="1">
                    <c:v>TV-14</c:v>
                  </c:pt>
                  <c:pt idx="2">
                    <c:v>TV-PG</c:v>
                  </c:pt>
                  <c:pt idx="3">
                    <c:v>PG-13</c:v>
                  </c:pt>
                  <c:pt idx="4">
                    <c:v>R</c:v>
                  </c:pt>
                  <c:pt idx="5">
                    <c:v>PG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2836</c:v>
                </c:pt>
                <c:pt idx="1">
                  <c:v>2204</c:v>
                </c:pt>
                <c:pt idx="2">
                  <c:v>1320</c:v>
                </c:pt>
                <c:pt idx="3">
                  <c:v>881</c:v>
                </c:pt>
                <c:pt idx="4">
                  <c:v>705</c:v>
                </c:pt>
                <c:pt idx="5">
                  <c:v>440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87</c:v>
                </c:pt>
                <c:pt idx="1">
                  <c:v>102</c:v>
                </c:pt>
                <c:pt idx="2">
                  <c:v>143</c:v>
                </c:pt>
                <c:pt idx="3">
                  <c:v>189</c:v>
                </c:pt>
                <c:pt idx="4">
                  <c:v>254</c:v>
                </c:pt>
                <c:pt idx="5">
                  <c:v>341</c:v>
                </c:pt>
                <c:pt idx="6">
                  <c:v>498</c:v>
                </c:pt>
                <c:pt idx="7">
                  <c:v>612</c:v>
                </c:pt>
                <c:pt idx="8">
                  <c:v>754</c:v>
                </c:pt>
                <c:pt idx="9">
                  <c:v>891</c:v>
                </c:pt>
                <c:pt idx="10">
                  <c:v>1023</c:v>
                </c:pt>
                <c:pt idx="11">
                  <c:v>987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TV Shows</c:v>
                </c:pt>
              </c:strCache>
            </c:strRef>
          </c:tx>
          <c:spPr>
            <a:solidFill>
              <a:srgbClr val="8B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42</c:v>
                </c:pt>
                <c:pt idx="1">
                  <c:v>56</c:v>
                </c:pt>
                <c:pt idx="2">
                  <c:v>73</c:v>
                </c:pt>
                <c:pt idx="3">
                  <c:v>95</c:v>
                </c:pt>
                <c:pt idx="4">
                  <c:v>125</c:v>
                </c:pt>
                <c:pt idx="5">
                  <c:v>198</c:v>
                </c:pt>
                <c:pt idx="6">
                  <c:v>287</c:v>
                </c:pt>
                <c:pt idx="7">
                  <c:v>356</c:v>
                </c:pt>
                <c:pt idx="8">
                  <c:v>421</c:v>
                </c:pt>
                <c:pt idx="9">
                  <c:v>498</c:v>
                </c:pt>
                <c:pt idx="10">
                  <c:v>543</c:v>
                </c:pt>
                <c:pt idx="11">
                  <c:v>512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45920"/>
            <a:ext cx="109728" cy="1828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1000" kern="0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NETFLIX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DATA ANALYSIS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5486400" cy="36576"/>
          </a:xfrm>
          <a:prstGeom prst="rect">
            <a:avLst/>
          </a:prstGeom>
          <a:solidFill>
            <a:srgbClr val="564D4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011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Exploratory Data 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1920240" cy="137160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697480"/>
            <a:ext cx="1920240" cy="640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88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8,807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432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697480"/>
            <a:ext cx="1920240" cy="137160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697480"/>
            <a:ext cx="1920240" cy="640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2788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46888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1920240" cy="137160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697480"/>
            <a:ext cx="1920240" cy="640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788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66344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Shows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2697480"/>
            <a:ext cx="1920240" cy="137160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2697480"/>
            <a:ext cx="1920240" cy="640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788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85800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Netflix Dataset  |  2008–2021  |  4 Analysis Dimensions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137160" y="274320"/>
            <a:ext cx="2651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200400" y="411480"/>
            <a:ext cx="5669280" cy="64008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46120" y="4114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0" y="4297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Type Distribution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758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vs TV Shows breakdown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79576"/>
            <a:ext cx="566928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17957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0" y="119786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&amp; Content Trends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15270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genres driving viewership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947672"/>
            <a:ext cx="566928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94767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0" y="19659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Country-Wise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22951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content production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715768"/>
            <a:ext cx="566928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27157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31920" y="27340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Ratings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3063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Age-group targeting insights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483864"/>
            <a:ext cx="566928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348386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31920" y="35021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Trends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38313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expansion story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4251960"/>
            <a:ext cx="566928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4251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31920" y="42702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4599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conclusions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|  CONTENT TYPE DISTRIBUTION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389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868680"/>
            <a:ext cx="1828800" cy="160020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0" y="868680"/>
            <a:ext cx="18288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0" y="960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5,989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029200" y="1673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2039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total library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040880" y="868680"/>
            <a:ext cx="1828800" cy="160020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40880" y="868680"/>
            <a:ext cx="18288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2" name="Text 9"/>
          <p:cNvSpPr/>
          <p:nvPr/>
        </p:nvSpPr>
        <p:spPr>
          <a:xfrm>
            <a:off x="7040880" y="960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2,818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040880" y="1673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Shows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040880" y="2039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of total library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0" y="2697480"/>
            <a:ext cx="1828800" cy="160020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0" y="2697480"/>
            <a:ext cx="18288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2788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min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029200" y="3502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Movie Duration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0" y="3867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60–180 min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040880" y="2697480"/>
            <a:ext cx="1828800" cy="160020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040880" y="2697480"/>
            <a:ext cx="18288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Text 19"/>
          <p:cNvSpPr/>
          <p:nvPr/>
        </p:nvSpPr>
        <p:spPr>
          <a:xfrm>
            <a:off x="7040880" y="2788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Seasons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040880" y="3502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TV Seasons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40880" y="3867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1–8 seasons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|  GENRE &amp; CONTENT TRENDS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92240" y="777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3 Genres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92240" y="1280160"/>
            <a:ext cx="2468880" cy="100584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92240" y="1280160"/>
            <a:ext cx="73152" cy="10058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5"/>
          <p:cNvSpPr/>
          <p:nvPr/>
        </p:nvSpPr>
        <p:spPr>
          <a:xfrm>
            <a:off x="66294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2940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Genre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 of library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92240" y="2468880"/>
            <a:ext cx="2468880" cy="100584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468880"/>
            <a:ext cx="73152" cy="10058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2940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Genre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 of library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92240" y="3657600"/>
            <a:ext cx="2468880" cy="100584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0" y="3657600"/>
            <a:ext cx="73152" cy="10058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2940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 Genre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 library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|  COUNTRY-WISE CONTENT DISTRIBUTION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777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Reach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0" y="1234440"/>
            <a:ext cx="2103120" cy="777240"/>
          </a:xfrm>
          <a:prstGeom prst="rect">
            <a:avLst/>
          </a:prstGeom>
          <a:solidFill>
            <a:srgbClr val="221F1F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0" y="1234440"/>
            <a:ext cx="64008" cy="7772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5"/>
          <p:cNvSpPr/>
          <p:nvPr/>
        </p:nvSpPr>
        <p:spPr>
          <a:xfrm>
            <a:off x="6967728" y="1280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67728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0" y="2194560"/>
            <a:ext cx="2103120" cy="777240"/>
          </a:xfrm>
          <a:prstGeom prst="rect">
            <a:avLst/>
          </a:prstGeom>
          <a:solidFill>
            <a:srgbClr val="221F1F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0" y="2194560"/>
            <a:ext cx="64008" cy="7772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2" name="Text 9"/>
          <p:cNvSpPr/>
          <p:nvPr/>
        </p:nvSpPr>
        <p:spPr>
          <a:xfrm>
            <a:off x="6967728" y="2240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967728" y="2624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Share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58000" y="3154680"/>
            <a:ext cx="2103120" cy="777240"/>
          </a:xfrm>
          <a:prstGeom prst="rect">
            <a:avLst/>
          </a:prstGeom>
          <a:solidFill>
            <a:srgbClr val="221F1F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0" y="3154680"/>
            <a:ext cx="64008" cy="7772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6" name="Text 13"/>
          <p:cNvSpPr/>
          <p:nvPr/>
        </p:nvSpPr>
        <p:spPr>
          <a:xfrm>
            <a:off x="6967728" y="3200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967728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Share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0" y="4114800"/>
            <a:ext cx="2103120" cy="777240"/>
          </a:xfrm>
          <a:prstGeom prst="rect">
            <a:avLst/>
          </a:prstGeom>
          <a:solidFill>
            <a:srgbClr val="221F1F"/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0" y="4114800"/>
            <a:ext cx="64008" cy="7772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0" name="Text 17"/>
          <p:cNvSpPr/>
          <p:nvPr/>
        </p:nvSpPr>
        <p:spPr>
          <a:xfrm>
            <a:off x="6967728" y="4160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967728" y="4544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Share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|  AUDIENCE RATINGS ANALYSIS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822960"/>
            <a:ext cx="2834640" cy="594360"/>
          </a:xfrm>
          <a:prstGeom prst="rect">
            <a:avLst/>
          </a:prstGeom>
          <a:solidFill>
            <a:srgbClr val="221F1F"/>
          </a:solidFill>
          <a:ln/>
        </p:spPr>
      </p:sp>
      <p:sp>
        <p:nvSpPr>
          <p:cNvPr id="6" name="Shape 3"/>
          <p:cNvSpPr/>
          <p:nvPr/>
        </p:nvSpPr>
        <p:spPr>
          <a:xfrm>
            <a:off x="6035040" y="822960"/>
            <a:ext cx="64008" cy="5943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4"/>
          <p:cNvSpPr/>
          <p:nvPr/>
        </p:nvSpPr>
        <p:spPr>
          <a:xfrm>
            <a:off x="6144768" y="8595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TV-MA  32%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44768" y="11430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Audiences Only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35040" y="1536192"/>
            <a:ext cx="2834640" cy="594360"/>
          </a:xfrm>
          <a:prstGeom prst="rect">
            <a:avLst/>
          </a:prstGeom>
          <a:solidFill>
            <a:srgbClr val="221F1F"/>
          </a:solidFill>
          <a:ln/>
        </p:spPr>
      </p:sp>
      <p:sp>
        <p:nvSpPr>
          <p:cNvPr id="10" name="Shape 7"/>
          <p:cNvSpPr/>
          <p:nvPr/>
        </p:nvSpPr>
        <p:spPr>
          <a:xfrm>
            <a:off x="6035040" y="1536192"/>
            <a:ext cx="64008" cy="594360"/>
          </a:xfrm>
          <a:prstGeom prst="rect">
            <a:avLst/>
          </a:prstGeom>
          <a:solidFill>
            <a:srgbClr val="B20710"/>
          </a:solidFill>
          <a:ln/>
        </p:spPr>
      </p:sp>
      <p:sp>
        <p:nvSpPr>
          <p:cNvPr id="11" name="Text 8"/>
          <p:cNvSpPr/>
          <p:nvPr/>
        </p:nvSpPr>
        <p:spPr>
          <a:xfrm>
            <a:off x="6144768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TV-14  25%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44768" y="18562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14 and Up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2249424"/>
            <a:ext cx="2834640" cy="594360"/>
          </a:xfrm>
          <a:prstGeom prst="rect">
            <a:avLst/>
          </a:prstGeom>
          <a:solidFill>
            <a:srgbClr val="221F1F"/>
          </a:solidFill>
          <a:ln/>
        </p:spPr>
      </p:sp>
      <p:sp>
        <p:nvSpPr>
          <p:cNvPr id="14" name="Shape 11"/>
          <p:cNvSpPr/>
          <p:nvPr/>
        </p:nvSpPr>
        <p:spPr>
          <a:xfrm>
            <a:off x="6035040" y="2249424"/>
            <a:ext cx="64008" cy="5943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144768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TV-PG  15%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44768" y="25694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Parental Guidance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35040" y="2962656"/>
            <a:ext cx="2834640" cy="594360"/>
          </a:xfrm>
          <a:prstGeom prst="rect">
            <a:avLst/>
          </a:prstGeom>
          <a:solidFill>
            <a:srgbClr val="221F1F"/>
          </a:solidFill>
          <a:ln/>
        </p:spPr>
      </p:sp>
      <p:sp>
        <p:nvSpPr>
          <p:cNvPr id="18" name="Shape 15"/>
          <p:cNvSpPr/>
          <p:nvPr/>
        </p:nvSpPr>
        <p:spPr>
          <a:xfrm>
            <a:off x="6035040" y="2962656"/>
            <a:ext cx="64008" cy="5943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6"/>
          <p:cNvSpPr/>
          <p:nvPr/>
        </p:nvSpPr>
        <p:spPr>
          <a:xfrm>
            <a:off x="6144768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PG-13  10%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44768" y="32826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13 and Up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35040" y="3675888"/>
            <a:ext cx="2834640" cy="594360"/>
          </a:xfrm>
          <a:prstGeom prst="rect">
            <a:avLst/>
          </a:prstGeom>
          <a:solidFill>
            <a:srgbClr val="221F1F"/>
          </a:solidFill>
          <a:ln/>
        </p:spPr>
      </p:sp>
      <p:sp>
        <p:nvSpPr>
          <p:cNvPr id="22" name="Shape 19"/>
          <p:cNvSpPr/>
          <p:nvPr/>
        </p:nvSpPr>
        <p:spPr>
          <a:xfrm>
            <a:off x="6035040" y="3675888"/>
            <a:ext cx="64008" cy="594360"/>
          </a:xfrm>
          <a:prstGeom prst="rect">
            <a:avLst/>
          </a:prstGeom>
          <a:solidFill>
            <a:srgbClr val="564D4D"/>
          </a:solidFill>
          <a:ln/>
        </p:spPr>
      </p:sp>
      <p:sp>
        <p:nvSpPr>
          <p:cNvPr id="23" name="Text 20"/>
          <p:cNvSpPr/>
          <p:nvPr/>
        </p:nvSpPr>
        <p:spPr>
          <a:xfrm>
            <a:off x="6144768" y="3712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8%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144768" y="39959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035040" y="4389120"/>
            <a:ext cx="2834640" cy="594360"/>
          </a:xfrm>
          <a:prstGeom prst="rect">
            <a:avLst/>
          </a:prstGeom>
          <a:solidFill>
            <a:srgbClr val="221F1F"/>
          </a:solidFill>
          <a:ln/>
        </p:spPr>
      </p:sp>
      <p:sp>
        <p:nvSpPr>
          <p:cNvPr id="26" name="Shape 23"/>
          <p:cNvSpPr/>
          <p:nvPr/>
        </p:nvSpPr>
        <p:spPr>
          <a:xfrm>
            <a:off x="6035040" y="4389120"/>
            <a:ext cx="64008" cy="594360"/>
          </a:xfrm>
          <a:prstGeom prst="rect">
            <a:avLst/>
          </a:prstGeom>
          <a:solidFill>
            <a:srgbClr val="564D4D"/>
          </a:solidFill>
          <a:ln/>
        </p:spPr>
      </p:sp>
      <p:sp>
        <p:nvSpPr>
          <p:cNvPr id="27" name="Text 24"/>
          <p:cNvSpPr/>
          <p:nvPr/>
        </p:nvSpPr>
        <p:spPr>
          <a:xfrm>
            <a:off x="6144768" y="4425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 5%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144768" y="4709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Parental Guidance Suggested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|  RELEASE YEAR &amp; GROWTH TRENDS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8595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06240"/>
            <a:ext cx="2743200" cy="749808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4206240"/>
            <a:ext cx="2743200" cy="640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2793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Year  2020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4617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content volume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4206240"/>
            <a:ext cx="2743200" cy="749808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4206240"/>
            <a:ext cx="2743200" cy="640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1" name="Text 8"/>
          <p:cNvSpPr/>
          <p:nvPr/>
        </p:nvSpPr>
        <p:spPr>
          <a:xfrm>
            <a:off x="3337560" y="42793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Growth  ~23%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37560" y="4617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annual growth 2015–2020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26480" y="4206240"/>
            <a:ext cx="2743200" cy="749808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4206240"/>
            <a:ext cx="2743200" cy="640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42793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Intl Content  58%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63640" y="4617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Non-US origin titles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|  KEY INSIGHTS &amp;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97680" cy="123444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73152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77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8961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Mix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(68%) dominate; TV Show share rising signals shift to episodic content strategy.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297680" cy="123444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04672"/>
            <a:ext cx="73152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877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8961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Leaders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2618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 &amp; Comedy are evergreen. International content growing fastest as platform globalizes.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21992"/>
            <a:ext cx="4297680" cy="123444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21992"/>
            <a:ext cx="73152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3134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leads in volume, but India, South Korea &amp; UK drive highest growth in recent acquisitions.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221992"/>
            <a:ext cx="4297680" cy="123444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21992"/>
            <a:ext cx="73152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32120" y="23134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Focus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26791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TV-MA dominance confirms Netflix targets adults primarily — a premium content strategy.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39312"/>
            <a:ext cx="4297680" cy="123444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39312"/>
            <a:ext cx="73152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0120" y="3730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Story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9651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Explosive 10x growth 2010–2020; content strategy clearly shifted post-2015 with originals.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39312"/>
            <a:ext cx="4297680" cy="1234440"/>
          </a:xfrm>
          <a:prstGeom prst="rect">
            <a:avLst/>
          </a:prstGeom>
          <a:solidFill>
            <a:srgbClr val="221F1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39312"/>
            <a:ext cx="73152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32120" y="3730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409651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additions peak annually — aligned to holiday subscriber acquisition windows.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2743200" y="2286000"/>
            <a:ext cx="36576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Content Data Analysis  |  8,807 Titles  |  2008–2021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covers: Content Types • Genres • Countries • Ratings • Growth Trends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Kaggle Netflix Titles Dataset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Data Analysis</dc:title>
  <dc:subject>PptxGenJS Presentation</dc:subject>
  <dc:creator>Data Analysis Team</dc:creator>
  <cp:lastModifiedBy>Data Analysis Team</cp:lastModifiedBy>
  <cp:revision>1</cp:revision>
  <dcterms:created xsi:type="dcterms:W3CDTF">2026-03-23T15:53:43Z</dcterms:created>
  <dcterms:modified xsi:type="dcterms:W3CDTF">2026-03-23T15:53:43Z</dcterms:modified>
</cp:coreProperties>
</file>